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embeddedFontLst>
    <p:embeddedFont>
      <p:font typeface="나눔스퀘어 ExtraBold" panose="020B0600000101010101" pitchFamily="50" charset="-127"/>
      <p:bold r:id="rId16"/>
    </p:embeddedFont>
    <p:embeddedFont>
      <p:font typeface="Noto Sans" panose="020B0502040504020204" pitchFamily="34" charset="0"/>
      <p:regular r:id="rId17"/>
      <p:bold r:id="rId18"/>
      <p:italic r:id="rId19"/>
      <p:boldItalic r:id="rId20"/>
    </p:embeddedFont>
    <p:embeddedFont>
      <p:font typeface="Noto Sans Bold" panose="020B080204050402020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고학능" userId="98360d3c-8ba9-440b-9f5e-691d0e9d97d7" providerId="ADAL" clId="{3AE81CFC-F908-4A76-8968-C559E2FF8C19}"/>
    <pc:docChg chg="undo custSel addSld modSld">
      <pc:chgData name="고학능" userId="98360d3c-8ba9-440b-9f5e-691d0e9d97d7" providerId="ADAL" clId="{3AE81CFC-F908-4A76-8968-C559E2FF8C19}" dt="2026-07-23T05:51:36.270" v="64"/>
      <pc:docMkLst>
        <pc:docMk/>
      </pc:docMkLst>
      <pc:sldChg chg="new">
        <pc:chgData name="고학능" userId="98360d3c-8ba9-440b-9f5e-691d0e9d97d7" providerId="ADAL" clId="{3AE81CFC-F908-4A76-8968-C559E2FF8C19}" dt="2026-07-23T05:43:00.100" v="0" actId="680"/>
        <pc:sldMkLst>
          <pc:docMk/>
          <pc:sldMk cId="2315924190" sldId="267"/>
        </pc:sldMkLst>
      </pc:sldChg>
      <pc:sldChg chg="addSp delSp modSp add mod">
        <pc:chgData name="고학능" userId="98360d3c-8ba9-440b-9f5e-691d0e9d97d7" providerId="ADAL" clId="{3AE81CFC-F908-4A76-8968-C559E2FF8C19}" dt="2026-07-23T05:43:57.427" v="39" actId="1076"/>
        <pc:sldMkLst>
          <pc:docMk/>
          <pc:sldMk cId="2236605819" sldId="268"/>
        </pc:sldMkLst>
        <pc:spChg chg="add del mod topLvl">
          <ac:chgData name="고학능" userId="98360d3c-8ba9-440b-9f5e-691d0e9d97d7" providerId="ADAL" clId="{3AE81CFC-F908-4A76-8968-C559E2FF8C19}" dt="2026-07-23T05:43:17.946" v="5" actId="478"/>
          <ac:spMkLst>
            <pc:docMk/>
            <pc:sldMk cId="2236605819" sldId="268"/>
            <ac:spMk id="10" creationId="{00000000-0000-0000-0000-000000000000}"/>
          </ac:spMkLst>
        </pc:spChg>
        <pc:spChg chg="del">
          <ac:chgData name="고학능" userId="98360d3c-8ba9-440b-9f5e-691d0e9d97d7" providerId="ADAL" clId="{3AE81CFC-F908-4A76-8968-C559E2FF8C19}" dt="2026-07-23T05:43:07.940" v="2" actId="478"/>
          <ac:spMkLst>
            <pc:docMk/>
            <pc:sldMk cId="2236605819" sldId="268"/>
            <ac:spMk id="11" creationId="{00000000-0000-0000-0000-000000000000}"/>
          </ac:spMkLst>
        </pc:spChg>
        <pc:spChg chg="del">
          <ac:chgData name="고학능" userId="98360d3c-8ba9-440b-9f5e-691d0e9d97d7" providerId="ADAL" clId="{3AE81CFC-F908-4A76-8968-C559E2FF8C19}" dt="2026-07-23T05:43:07.940" v="2" actId="478"/>
          <ac:spMkLst>
            <pc:docMk/>
            <pc:sldMk cId="2236605819" sldId="268"/>
            <ac:spMk id="12" creationId="{00000000-0000-0000-0000-000000000000}"/>
          </ac:spMkLst>
        </pc:spChg>
        <pc:spChg chg="del">
          <ac:chgData name="고학능" userId="98360d3c-8ba9-440b-9f5e-691d0e9d97d7" providerId="ADAL" clId="{3AE81CFC-F908-4A76-8968-C559E2FF8C19}" dt="2026-07-23T05:43:07.940" v="2" actId="478"/>
          <ac:spMkLst>
            <pc:docMk/>
            <pc:sldMk cId="2236605819" sldId="268"/>
            <ac:spMk id="13" creationId="{00000000-0000-0000-0000-000000000000}"/>
          </ac:spMkLst>
        </pc:spChg>
        <pc:spChg chg="del">
          <ac:chgData name="고학능" userId="98360d3c-8ba9-440b-9f5e-691d0e9d97d7" providerId="ADAL" clId="{3AE81CFC-F908-4A76-8968-C559E2FF8C19}" dt="2026-07-23T05:43:07.940" v="2" actId="478"/>
          <ac:spMkLst>
            <pc:docMk/>
            <pc:sldMk cId="2236605819" sldId="268"/>
            <ac:spMk id="14" creationId="{00000000-0000-0000-0000-000000000000}"/>
          </ac:spMkLst>
        </pc:spChg>
        <pc:spChg chg="del">
          <ac:chgData name="고학능" userId="98360d3c-8ba9-440b-9f5e-691d0e9d97d7" providerId="ADAL" clId="{3AE81CFC-F908-4A76-8968-C559E2FF8C19}" dt="2026-07-23T05:43:07.940" v="2" actId="478"/>
          <ac:spMkLst>
            <pc:docMk/>
            <pc:sldMk cId="2236605819" sldId="268"/>
            <ac:spMk id="15" creationId="{00000000-0000-0000-0000-000000000000}"/>
          </ac:spMkLst>
        </pc:spChg>
        <pc:spChg chg="del">
          <ac:chgData name="고학능" userId="98360d3c-8ba9-440b-9f5e-691d0e9d97d7" providerId="ADAL" clId="{3AE81CFC-F908-4A76-8968-C559E2FF8C19}" dt="2026-07-23T05:43:07.940" v="2" actId="478"/>
          <ac:spMkLst>
            <pc:docMk/>
            <pc:sldMk cId="2236605819" sldId="268"/>
            <ac:spMk id="16" creationId="{00000000-0000-0000-0000-000000000000}"/>
          </ac:spMkLst>
        </pc:spChg>
        <pc:spChg chg="add mod">
          <ac:chgData name="고학능" userId="98360d3c-8ba9-440b-9f5e-691d0e9d97d7" providerId="ADAL" clId="{3AE81CFC-F908-4A76-8968-C559E2FF8C19}" dt="2026-07-23T05:43:57.427" v="39" actId="1076"/>
          <ac:spMkLst>
            <pc:docMk/>
            <pc:sldMk cId="2236605819" sldId="268"/>
            <ac:spMk id="17" creationId="{A10B8475-5D3D-BA36-B552-8FDB4E9A2BCA}"/>
          </ac:spMkLst>
        </pc:spChg>
        <pc:grpChg chg="add del">
          <ac:chgData name="고학능" userId="98360d3c-8ba9-440b-9f5e-691d0e9d97d7" providerId="ADAL" clId="{3AE81CFC-F908-4A76-8968-C559E2FF8C19}" dt="2026-07-23T05:43:17.946" v="5" actId="478"/>
          <ac:grpSpMkLst>
            <pc:docMk/>
            <pc:sldMk cId="2236605819" sldId="268"/>
            <ac:grpSpMk id="6" creationId="{00000000-0000-0000-0000-000000000000}"/>
          </ac:grpSpMkLst>
        </pc:grpChg>
        <pc:grpChg chg="mod topLvl">
          <ac:chgData name="고학능" userId="98360d3c-8ba9-440b-9f5e-691d0e9d97d7" providerId="ADAL" clId="{3AE81CFC-F908-4A76-8968-C559E2FF8C19}" dt="2026-07-23T05:43:17.946" v="5" actId="478"/>
          <ac:grpSpMkLst>
            <pc:docMk/>
            <pc:sldMk cId="2236605819" sldId="268"/>
            <ac:grpSpMk id="7" creationId="{00000000-0000-0000-0000-000000000000}"/>
          </ac:grpSpMkLst>
        </pc:grpChg>
      </pc:sldChg>
      <pc:sldChg chg="modSp add mod">
        <pc:chgData name="고학능" userId="98360d3c-8ba9-440b-9f5e-691d0e9d97d7" providerId="ADAL" clId="{3AE81CFC-F908-4A76-8968-C559E2FF8C19}" dt="2026-07-23T05:51:36.270" v="64"/>
        <pc:sldMkLst>
          <pc:docMk/>
          <pc:sldMk cId="2716464695" sldId="269"/>
        </pc:sldMkLst>
        <pc:spChg chg="mod">
          <ac:chgData name="고학능" userId="98360d3c-8ba9-440b-9f5e-691d0e9d97d7" providerId="ADAL" clId="{3AE81CFC-F908-4A76-8968-C559E2FF8C19}" dt="2026-07-23T05:51:36.270" v="64"/>
          <ac:spMkLst>
            <pc:docMk/>
            <pc:sldMk cId="2716464695" sldId="269"/>
            <ac:spMk id="17" creationId="{A10B8475-5D3D-BA36-B552-8FDB4E9A2BC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17497" y="1028700"/>
            <a:ext cx="1241803" cy="916401"/>
          </a:xfrm>
          <a:custGeom>
            <a:avLst/>
            <a:gdLst/>
            <a:ahLst/>
            <a:cxnLst/>
            <a:rect l="l" t="t" r="r" b="b"/>
            <a:pathLst>
              <a:path w="1241803" h="916401">
                <a:moveTo>
                  <a:pt x="0" y="0"/>
                </a:moveTo>
                <a:lnTo>
                  <a:pt x="1241803" y="0"/>
                </a:lnTo>
                <a:lnTo>
                  <a:pt x="1241803" y="916401"/>
                </a:lnTo>
                <a:lnTo>
                  <a:pt x="0" y="916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62792" y="4377595"/>
            <a:ext cx="12667348" cy="89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5"/>
              </a:lnSpc>
            </a:pPr>
            <a:r>
              <a:rPr lang="en-US" sz="7506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신규 입사자 가이드북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62792" y="5625991"/>
            <a:ext cx="9469844" cy="52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9"/>
              </a:lnSpc>
            </a:pPr>
            <a:r>
              <a:rPr lang="en-US" sz="278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주식회나 라라나의 신규 입사자 온보딩을 위한 가이드북입니다.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333307" y="8736761"/>
            <a:ext cx="1925993" cy="52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89"/>
              </a:lnSpc>
            </a:pPr>
            <a:r>
              <a:rPr lang="en-US" sz="278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2027.03.15</a:t>
            </a:r>
          </a:p>
        </p:txBody>
      </p:sp>
      <p:sp>
        <p:nvSpPr>
          <p:cNvPr id="6" name="AutoShape 6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8534" y="2710402"/>
            <a:ext cx="15530932" cy="5468816"/>
            <a:chOff x="0" y="0"/>
            <a:chExt cx="4090451" cy="1440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90451" cy="1440347"/>
            </a:xfrm>
            <a:custGeom>
              <a:avLst/>
              <a:gdLst/>
              <a:ahLst/>
              <a:cxnLst/>
              <a:rect l="l" t="t" r="r" b="b"/>
              <a:pathLst>
                <a:path w="4090451" h="1440347">
                  <a:moveTo>
                    <a:pt x="0" y="0"/>
                  </a:moveTo>
                  <a:lnTo>
                    <a:pt x="4090451" y="0"/>
                  </a:lnTo>
                  <a:lnTo>
                    <a:pt x="4090451" y="1440347"/>
                  </a:lnTo>
                  <a:lnTo>
                    <a:pt x="0" y="144034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090451" cy="1487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378534" y="1493506"/>
            <a:ext cx="4669226" cy="1216897"/>
            <a:chOff x="0" y="0"/>
            <a:chExt cx="6225634" cy="162252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225634" cy="1622529"/>
              <a:chOff x="0" y="0"/>
              <a:chExt cx="770347" cy="20076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70347" cy="200768"/>
              </a:xfrm>
              <a:custGeom>
                <a:avLst/>
                <a:gdLst/>
                <a:ahLst/>
                <a:cxnLst/>
                <a:rect l="l" t="t" r="r" b="b"/>
                <a:pathLst>
                  <a:path w="770347" h="200768">
                    <a:moveTo>
                      <a:pt x="0" y="0"/>
                    </a:moveTo>
                    <a:lnTo>
                      <a:pt x="770347" y="0"/>
                    </a:lnTo>
                    <a:lnTo>
                      <a:pt x="770347" y="200768"/>
                    </a:lnTo>
                    <a:lnTo>
                      <a:pt x="0" y="20076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70347" cy="24839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676131" y="277865"/>
              <a:ext cx="4873372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299"/>
                </a:lnSpc>
                <a:spcBef>
                  <a:spcPct val="0"/>
                </a:spcBef>
              </a:pPr>
              <a:r>
                <a:rPr lang="en-US" sz="4499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Contents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580027" y="3801622"/>
            <a:ext cx="2686760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기본 정보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80027" y="5091725"/>
            <a:ext cx="3009491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문화 소개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80027" y="6385906"/>
            <a:ext cx="3244205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팀 소개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93196" y="3801622"/>
            <a:ext cx="4329756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협업 툴 소개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93196" y="5091725"/>
            <a:ext cx="4857862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문서 작성법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93196" y="6385906"/>
            <a:ext cx="3545957" cy="6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7"/>
              </a:lnSpc>
              <a:spcBef>
                <a:spcPct val="0"/>
              </a:spcBef>
            </a:pPr>
            <a:r>
              <a:rPr lang="en-US" sz="3755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비즈니스 예절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8534" y="2710402"/>
            <a:ext cx="15530932" cy="5468816"/>
            <a:chOff x="0" y="0"/>
            <a:chExt cx="4090451" cy="1440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90451" cy="1440347"/>
            </a:xfrm>
            <a:custGeom>
              <a:avLst/>
              <a:gdLst/>
              <a:ahLst/>
              <a:cxnLst/>
              <a:rect l="l" t="t" r="r" b="b"/>
              <a:pathLst>
                <a:path w="4090451" h="1440347">
                  <a:moveTo>
                    <a:pt x="0" y="0"/>
                  </a:moveTo>
                  <a:lnTo>
                    <a:pt x="4090451" y="0"/>
                  </a:lnTo>
                  <a:lnTo>
                    <a:pt x="4090451" y="1440347"/>
                  </a:lnTo>
                  <a:lnTo>
                    <a:pt x="0" y="144034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090451" cy="1487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378534" y="1493506"/>
            <a:ext cx="4669226" cy="1216897"/>
            <a:chOff x="0" y="0"/>
            <a:chExt cx="770347" cy="2007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0347" cy="200768"/>
            </a:xfrm>
            <a:custGeom>
              <a:avLst/>
              <a:gdLst/>
              <a:ahLst/>
              <a:cxnLst/>
              <a:rect l="l" t="t" r="r" b="b"/>
              <a:pathLst>
                <a:path w="770347" h="200768">
                  <a:moveTo>
                    <a:pt x="0" y="0"/>
                  </a:moveTo>
                  <a:lnTo>
                    <a:pt x="770347" y="0"/>
                  </a:lnTo>
                  <a:lnTo>
                    <a:pt x="770347" y="200768"/>
                  </a:lnTo>
                  <a:lnTo>
                    <a:pt x="0" y="20076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70347" cy="248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10B8475-5D3D-BA36-B552-8FDB4E9A2BCA}"/>
              </a:ext>
            </a:extLst>
          </p:cNvPr>
          <p:cNvSpPr txBox="1"/>
          <p:nvPr/>
        </p:nvSpPr>
        <p:spPr>
          <a:xfrm>
            <a:off x="3713147" y="4783091"/>
            <a:ext cx="81612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지식의 표현과 추론</a:t>
            </a:r>
          </a:p>
        </p:txBody>
      </p:sp>
    </p:spTree>
    <p:extLst>
      <p:ext uri="{BB962C8B-B14F-4D97-AF65-F5344CB8AC3E}">
        <p14:creationId xmlns:p14="http://schemas.microsoft.com/office/powerpoint/2010/main" val="223660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8534" y="2710402"/>
            <a:ext cx="15530932" cy="5468816"/>
            <a:chOff x="0" y="0"/>
            <a:chExt cx="4090451" cy="14403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90451" cy="1440347"/>
            </a:xfrm>
            <a:custGeom>
              <a:avLst/>
              <a:gdLst/>
              <a:ahLst/>
              <a:cxnLst/>
              <a:rect l="l" t="t" r="r" b="b"/>
              <a:pathLst>
                <a:path w="4090451" h="1440347">
                  <a:moveTo>
                    <a:pt x="0" y="0"/>
                  </a:moveTo>
                  <a:lnTo>
                    <a:pt x="4090451" y="0"/>
                  </a:lnTo>
                  <a:lnTo>
                    <a:pt x="4090451" y="1440347"/>
                  </a:lnTo>
                  <a:lnTo>
                    <a:pt x="0" y="144034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090451" cy="1487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378534" y="1493506"/>
            <a:ext cx="4669226" cy="1216897"/>
            <a:chOff x="0" y="0"/>
            <a:chExt cx="770347" cy="2007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0347" cy="200768"/>
            </a:xfrm>
            <a:custGeom>
              <a:avLst/>
              <a:gdLst/>
              <a:ahLst/>
              <a:cxnLst/>
              <a:rect l="l" t="t" r="r" b="b"/>
              <a:pathLst>
                <a:path w="770347" h="200768">
                  <a:moveTo>
                    <a:pt x="0" y="0"/>
                  </a:moveTo>
                  <a:lnTo>
                    <a:pt x="770347" y="0"/>
                  </a:lnTo>
                  <a:lnTo>
                    <a:pt x="770347" y="200768"/>
                  </a:lnTo>
                  <a:lnTo>
                    <a:pt x="0" y="20076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70347" cy="2483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10B8475-5D3D-BA36-B552-8FDB4E9A2BCA}"/>
              </a:ext>
            </a:extLst>
          </p:cNvPr>
          <p:cNvSpPr txBox="1"/>
          <p:nvPr/>
        </p:nvSpPr>
        <p:spPr>
          <a:xfrm>
            <a:off x="3713147" y="4783091"/>
            <a:ext cx="790472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인공지능 알고리즘</a:t>
            </a:r>
            <a:endParaRPr lang="ko-KR" altLang="en-US" sz="8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6464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771525"/>
            <a:ext cx="309870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기본 정보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66256" y="877887"/>
            <a:ext cx="57986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라라나 컴퍼니의 기본 정보입니다.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036355" y="3256292"/>
            <a:ext cx="5495299" cy="837250"/>
            <a:chOff x="0" y="0"/>
            <a:chExt cx="7327066" cy="1116333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7327066" cy="1116333"/>
              <a:chOff x="0" y="0"/>
              <a:chExt cx="1447322" cy="22051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7322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447322" h="220510">
                    <a:moveTo>
                      <a:pt x="0" y="0"/>
                    </a:moveTo>
                    <a:lnTo>
                      <a:pt x="1447322" y="0"/>
                    </a:lnTo>
                    <a:lnTo>
                      <a:pt x="1447322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447322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795751" y="155119"/>
              <a:ext cx="5735563" cy="739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en-US" sz="331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업무 시간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28914" y="4972193"/>
            <a:ext cx="5310181" cy="2718550"/>
            <a:chOff x="0" y="0"/>
            <a:chExt cx="7080241" cy="3624733"/>
          </a:xfrm>
        </p:grpSpPr>
        <p:sp>
          <p:nvSpPr>
            <p:cNvPr id="12" name="TextBox 12"/>
            <p:cNvSpPr txBox="1"/>
            <p:nvPr/>
          </p:nvSpPr>
          <p:spPr>
            <a:xfrm>
              <a:off x="2354154" y="-47625"/>
              <a:ext cx="4726087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오전 9시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20712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출근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08784"/>
              <a:ext cx="1320712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퇴근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065193"/>
              <a:ext cx="1730618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점심 시간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121602"/>
              <a:ext cx="1730618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정기 회의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54154" y="1008784"/>
              <a:ext cx="4726087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오후 6시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54154" y="2065193"/>
              <a:ext cx="4726087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오후 12시 ~ 오후 1시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54154" y="3121602"/>
              <a:ext cx="4726087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매주 월요일 9시 30분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99221" y="4972193"/>
            <a:ext cx="7106067" cy="2718550"/>
            <a:chOff x="0" y="0"/>
            <a:chExt cx="9474755" cy="3624733"/>
          </a:xfrm>
        </p:grpSpPr>
        <p:sp>
          <p:nvSpPr>
            <p:cNvPr id="21" name="TextBox 21"/>
            <p:cNvSpPr txBox="1"/>
            <p:nvPr/>
          </p:nvSpPr>
          <p:spPr>
            <a:xfrm>
              <a:off x="2100044" y="-47625"/>
              <a:ext cx="4726087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123-456-7890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730618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전화번호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008784"/>
              <a:ext cx="1730618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홈페이지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2065193"/>
              <a:ext cx="2264018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이메일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3121602"/>
              <a:ext cx="1730618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00044" y="1008784"/>
              <a:ext cx="4726087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reallygreatsite.com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00044" y="2065193"/>
              <a:ext cx="5798149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hello@reallygreatsite.com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00044" y="3121602"/>
              <a:ext cx="7374711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123 Anywhere St., Any City, ST 12345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56346" y="3256292"/>
            <a:ext cx="7106067" cy="837250"/>
            <a:chOff x="0" y="0"/>
            <a:chExt cx="9474755" cy="111633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029000" y="155119"/>
              <a:ext cx="7416756" cy="739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en-US" sz="3310" b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기본 정보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0021942" y="2919173"/>
            <a:ext cx="0" cy="5683018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771525"/>
            <a:ext cx="309870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문화 소개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66256" y="877887"/>
            <a:ext cx="57986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라라나 컴퍼니의 문화를 소개합니다.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68891" y="3488383"/>
            <a:ext cx="3199470" cy="2083468"/>
            <a:chOff x="0" y="0"/>
            <a:chExt cx="842659" cy="5487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2659" cy="548732"/>
            </a:xfrm>
            <a:custGeom>
              <a:avLst/>
              <a:gdLst/>
              <a:ahLst/>
              <a:cxnLst/>
              <a:rect l="l" t="t" r="r" b="b"/>
              <a:pathLst>
                <a:path w="842659" h="548732">
                  <a:moveTo>
                    <a:pt x="0" y="0"/>
                  </a:moveTo>
                  <a:lnTo>
                    <a:pt x="842659" y="0"/>
                  </a:lnTo>
                  <a:lnTo>
                    <a:pt x="842659" y="548732"/>
                  </a:lnTo>
                  <a:lnTo>
                    <a:pt x="0" y="5487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42659" cy="596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68891" y="5949513"/>
            <a:ext cx="3199470" cy="2083468"/>
            <a:chOff x="0" y="0"/>
            <a:chExt cx="842659" cy="5487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42659" cy="548732"/>
            </a:xfrm>
            <a:custGeom>
              <a:avLst/>
              <a:gdLst/>
              <a:ahLst/>
              <a:cxnLst/>
              <a:rect l="l" t="t" r="r" b="b"/>
              <a:pathLst>
                <a:path w="842659" h="548732">
                  <a:moveTo>
                    <a:pt x="0" y="0"/>
                  </a:moveTo>
                  <a:lnTo>
                    <a:pt x="842659" y="0"/>
                  </a:lnTo>
                  <a:lnTo>
                    <a:pt x="842659" y="548732"/>
                  </a:lnTo>
                  <a:lnTo>
                    <a:pt x="0" y="5487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42659" cy="596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44149" y="3488383"/>
            <a:ext cx="3199470" cy="2083468"/>
            <a:chOff x="0" y="0"/>
            <a:chExt cx="842659" cy="5487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2659" cy="548732"/>
            </a:xfrm>
            <a:custGeom>
              <a:avLst/>
              <a:gdLst/>
              <a:ahLst/>
              <a:cxnLst/>
              <a:rect l="l" t="t" r="r" b="b"/>
              <a:pathLst>
                <a:path w="842659" h="548732">
                  <a:moveTo>
                    <a:pt x="0" y="0"/>
                  </a:moveTo>
                  <a:lnTo>
                    <a:pt x="842659" y="0"/>
                  </a:lnTo>
                  <a:lnTo>
                    <a:pt x="842659" y="548732"/>
                  </a:lnTo>
                  <a:lnTo>
                    <a:pt x="0" y="5487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42659" cy="596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44149" y="5949513"/>
            <a:ext cx="3199470" cy="2083468"/>
            <a:chOff x="0" y="0"/>
            <a:chExt cx="842659" cy="5487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42659" cy="548732"/>
            </a:xfrm>
            <a:custGeom>
              <a:avLst/>
              <a:gdLst/>
              <a:ahLst/>
              <a:cxnLst/>
              <a:rect l="l" t="t" r="r" b="b"/>
              <a:pathLst>
                <a:path w="842659" h="548732">
                  <a:moveTo>
                    <a:pt x="0" y="0"/>
                  </a:moveTo>
                  <a:lnTo>
                    <a:pt x="842659" y="0"/>
                  </a:lnTo>
                  <a:lnTo>
                    <a:pt x="842659" y="548732"/>
                  </a:lnTo>
                  <a:lnTo>
                    <a:pt x="0" y="5487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42659" cy="5963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691326" y="4244366"/>
            <a:ext cx="255460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협업 및 소통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80128" y="6705497"/>
            <a:ext cx="337699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다양성 및 포용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66584" y="4244366"/>
            <a:ext cx="255460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열린 문화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61854" y="6705497"/>
            <a:ext cx="316406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자기계발 및 성장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8396" y="3930640"/>
            <a:ext cx="3929021" cy="1160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Ea esse esse et ex deserunt laboris proident laborum duis tempor.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0583" y="6195110"/>
            <a:ext cx="3929021" cy="155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Mollit elit in irure incididunt duis cupidatat mollit dolor veniam ipsum aliqua est cillum et.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15296" y="3733980"/>
            <a:ext cx="4512121" cy="155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Ea esse esse et ex deserunt laboris proident laborum duis tempor. </a:t>
            </a:r>
          </a:p>
          <a:p>
            <a:pPr algn="l">
              <a:lnSpc>
                <a:spcPts val="3153"/>
              </a:lnSpc>
            </a:pPr>
            <a:r>
              <a:rPr lang="en-US" sz="225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Mollit elit in irure incididunt duis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15296" y="5966510"/>
            <a:ext cx="4488473" cy="155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3"/>
              </a:lnSpc>
              <a:spcBef>
                <a:spcPct val="0"/>
              </a:spcBef>
            </a:pPr>
            <a:r>
              <a:rPr lang="en-US" sz="2252" u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cupidatat mollit dolor veniam ipsum aliqua est cillum et. </a:t>
            </a:r>
          </a:p>
          <a:p>
            <a:pPr marL="0" lvl="0" indent="0" algn="l">
              <a:lnSpc>
                <a:spcPts val="3153"/>
              </a:lnSpc>
              <a:spcBef>
                <a:spcPct val="0"/>
              </a:spcBef>
            </a:pPr>
            <a:r>
              <a:rPr lang="en-US" sz="2252" u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Dolore cillum cupidatat esse officia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3403240" y="3073709"/>
            <a:ext cx="5290229" cy="2187568"/>
            <a:chOff x="0" y="0"/>
            <a:chExt cx="1393311" cy="576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3311" cy="576150"/>
            </a:xfrm>
            <a:custGeom>
              <a:avLst/>
              <a:gdLst/>
              <a:ahLst/>
              <a:cxnLst/>
              <a:rect l="l" t="t" r="r" b="b"/>
              <a:pathLst>
                <a:path w="1393311" h="576150">
                  <a:moveTo>
                    <a:pt x="0" y="0"/>
                  </a:moveTo>
                  <a:lnTo>
                    <a:pt x="1393311" y="0"/>
                  </a:lnTo>
                  <a:lnTo>
                    <a:pt x="1393311" y="576150"/>
                  </a:lnTo>
                  <a:lnTo>
                    <a:pt x="0" y="57615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393311" cy="62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403240" y="6260087"/>
            <a:ext cx="5290229" cy="2187568"/>
            <a:chOff x="0" y="0"/>
            <a:chExt cx="1393311" cy="576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3311" cy="576150"/>
            </a:xfrm>
            <a:custGeom>
              <a:avLst/>
              <a:gdLst/>
              <a:ahLst/>
              <a:cxnLst/>
              <a:rect l="l" t="t" r="r" b="b"/>
              <a:pathLst>
                <a:path w="1393311" h="576150">
                  <a:moveTo>
                    <a:pt x="0" y="0"/>
                  </a:moveTo>
                  <a:lnTo>
                    <a:pt x="1393311" y="0"/>
                  </a:lnTo>
                  <a:lnTo>
                    <a:pt x="1393311" y="576150"/>
                  </a:lnTo>
                  <a:lnTo>
                    <a:pt x="0" y="57615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393311" cy="62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94531" y="3073709"/>
            <a:ext cx="5290229" cy="2187568"/>
            <a:chOff x="0" y="0"/>
            <a:chExt cx="1393311" cy="576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3311" cy="576150"/>
            </a:xfrm>
            <a:custGeom>
              <a:avLst/>
              <a:gdLst/>
              <a:ahLst/>
              <a:cxnLst/>
              <a:rect l="l" t="t" r="r" b="b"/>
              <a:pathLst>
                <a:path w="1393311" h="576150">
                  <a:moveTo>
                    <a:pt x="0" y="0"/>
                  </a:moveTo>
                  <a:lnTo>
                    <a:pt x="1393311" y="0"/>
                  </a:lnTo>
                  <a:lnTo>
                    <a:pt x="1393311" y="576150"/>
                  </a:lnTo>
                  <a:lnTo>
                    <a:pt x="0" y="57615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393311" cy="62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94531" y="6260087"/>
            <a:ext cx="5290229" cy="2187568"/>
            <a:chOff x="0" y="0"/>
            <a:chExt cx="1393311" cy="5761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93311" cy="576150"/>
            </a:xfrm>
            <a:custGeom>
              <a:avLst/>
              <a:gdLst/>
              <a:ahLst/>
              <a:cxnLst/>
              <a:rect l="l" t="t" r="r" b="b"/>
              <a:pathLst>
                <a:path w="1393311" h="576150">
                  <a:moveTo>
                    <a:pt x="0" y="0"/>
                  </a:moveTo>
                  <a:lnTo>
                    <a:pt x="1393311" y="0"/>
                  </a:lnTo>
                  <a:lnTo>
                    <a:pt x="1393311" y="576150"/>
                  </a:lnTo>
                  <a:lnTo>
                    <a:pt x="0" y="57615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93311" cy="62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7919257" y="4177018"/>
            <a:ext cx="241442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7" name="AutoShape 17"/>
          <p:cNvSpPr/>
          <p:nvPr/>
        </p:nvSpPr>
        <p:spPr>
          <a:xfrm>
            <a:off x="7919257" y="7363396"/>
            <a:ext cx="241442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8" name="AutoShape 18"/>
          <p:cNvSpPr/>
          <p:nvPr/>
        </p:nvSpPr>
        <p:spPr>
          <a:xfrm>
            <a:off x="12249171" y="4923659"/>
            <a:ext cx="0" cy="19183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9" name="AutoShape 19"/>
          <p:cNvSpPr/>
          <p:nvPr/>
        </p:nvSpPr>
        <p:spPr>
          <a:xfrm>
            <a:off x="6038829" y="4923659"/>
            <a:ext cx="0" cy="19183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0" name="TextBox 20"/>
          <p:cNvSpPr txBox="1"/>
          <p:nvPr/>
        </p:nvSpPr>
        <p:spPr>
          <a:xfrm>
            <a:off x="1028700" y="771525"/>
            <a:ext cx="433769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팀 소개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49632" y="877887"/>
            <a:ext cx="829001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팀원들 세부 정보는 사내 클라우드 내 조직도를 참고해 주세요.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32159" y="3858811"/>
            <a:ext cx="2232391" cy="55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19"/>
              </a:lnSpc>
              <a:spcBef>
                <a:spcPct val="0"/>
              </a:spcBef>
            </a:pPr>
            <a:r>
              <a:rPr lang="en-US" sz="3228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기획팀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23450" y="3858811"/>
            <a:ext cx="2232391" cy="55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19"/>
              </a:lnSpc>
              <a:spcBef>
                <a:spcPct val="0"/>
              </a:spcBef>
            </a:pPr>
            <a:r>
              <a:rPr lang="en-US" sz="3228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마케팅팀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23450" y="7045189"/>
            <a:ext cx="2232391" cy="55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19"/>
              </a:lnSpc>
              <a:spcBef>
                <a:spcPct val="0"/>
              </a:spcBef>
            </a:pPr>
            <a:r>
              <a:rPr lang="en-US" sz="3228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인사팀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32159" y="7045189"/>
            <a:ext cx="2232391" cy="550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19"/>
              </a:lnSpc>
              <a:spcBef>
                <a:spcPct val="0"/>
              </a:spcBef>
            </a:pPr>
            <a:r>
              <a:rPr lang="en-US" sz="3228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제품 개발팀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4617977" y="828430"/>
            <a:ext cx="3353032" cy="389183"/>
            <a:chOff x="0" y="0"/>
            <a:chExt cx="4470710" cy="518910"/>
          </a:xfrm>
        </p:grpSpPr>
        <p:sp>
          <p:nvSpPr>
            <p:cNvPr id="27" name="TextBox 27"/>
            <p:cNvSpPr txBox="1"/>
            <p:nvPr/>
          </p:nvSpPr>
          <p:spPr>
            <a:xfrm>
              <a:off x="901368" y="-89631"/>
              <a:ext cx="3569342" cy="608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000"/>
                </a:lnSpc>
              </a:pPr>
              <a:r>
                <a:rPr lang="en-US" sz="25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링크 바로 가기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535649" cy="518910"/>
            </a:xfrm>
            <a:custGeom>
              <a:avLst/>
              <a:gdLst/>
              <a:ahLst/>
              <a:cxnLst/>
              <a:rect l="l" t="t" r="r" b="b"/>
              <a:pathLst>
                <a:path w="535649" h="518910">
                  <a:moveTo>
                    <a:pt x="0" y="0"/>
                  </a:moveTo>
                  <a:lnTo>
                    <a:pt x="535649" y="0"/>
                  </a:lnTo>
                  <a:lnTo>
                    <a:pt x="535649" y="518910"/>
                  </a:lnTo>
                  <a:lnTo>
                    <a:pt x="0" y="518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771525"/>
            <a:ext cx="433769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협업 툴 소개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45813" y="877887"/>
            <a:ext cx="57986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인사팀의 안내에 따라 계정을 만들어 주세요.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803280" y="3362817"/>
            <a:ext cx="2658452" cy="2397865"/>
            <a:chOff x="0" y="0"/>
            <a:chExt cx="840983" cy="7585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0983" cy="758548"/>
            </a:xfrm>
            <a:custGeom>
              <a:avLst/>
              <a:gdLst/>
              <a:ahLst/>
              <a:cxnLst/>
              <a:rect l="l" t="t" r="r" b="b"/>
              <a:pathLst>
                <a:path w="840983" h="758548">
                  <a:moveTo>
                    <a:pt x="0" y="0"/>
                  </a:moveTo>
                  <a:lnTo>
                    <a:pt x="840983" y="0"/>
                  </a:lnTo>
                  <a:lnTo>
                    <a:pt x="840983" y="758548"/>
                  </a:lnTo>
                  <a:lnTo>
                    <a:pt x="0" y="758548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40983" cy="806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258866" y="3979687"/>
            <a:ext cx="1747279" cy="1164125"/>
          </a:xfrm>
          <a:custGeom>
            <a:avLst/>
            <a:gdLst/>
            <a:ahLst/>
            <a:cxnLst/>
            <a:rect l="l" t="t" r="r" b="b"/>
            <a:pathLst>
              <a:path w="1747279" h="1164125">
                <a:moveTo>
                  <a:pt x="0" y="0"/>
                </a:moveTo>
                <a:lnTo>
                  <a:pt x="1747279" y="0"/>
                </a:lnTo>
                <a:lnTo>
                  <a:pt x="1747279" y="1164125"/>
                </a:lnTo>
                <a:lnTo>
                  <a:pt x="0" y="1164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14457" y="7311616"/>
            <a:ext cx="4036097" cy="86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온라인 클라우드 Fauget을 </a:t>
            </a:r>
          </a:p>
          <a:p>
            <a:pPr marL="0" lvl="0" indent="0" algn="ctr">
              <a:lnSpc>
                <a:spcPts val="3563"/>
              </a:lnSpc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사내 드라이브로 사용합니다.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3191" y="6425074"/>
            <a:ext cx="3193109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사내 드라이브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293543" y="3362817"/>
            <a:ext cx="2658452" cy="2397865"/>
            <a:chOff x="0" y="0"/>
            <a:chExt cx="840983" cy="7585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0983" cy="758548"/>
            </a:xfrm>
            <a:custGeom>
              <a:avLst/>
              <a:gdLst/>
              <a:ahLst/>
              <a:cxnLst/>
              <a:rect l="l" t="t" r="r" b="b"/>
              <a:pathLst>
                <a:path w="840983" h="758548">
                  <a:moveTo>
                    <a:pt x="0" y="0"/>
                  </a:moveTo>
                  <a:lnTo>
                    <a:pt x="840983" y="0"/>
                  </a:lnTo>
                  <a:lnTo>
                    <a:pt x="840983" y="758548"/>
                  </a:lnTo>
                  <a:lnTo>
                    <a:pt x="0" y="758548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40983" cy="806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7959632" y="3991451"/>
            <a:ext cx="1326275" cy="1140596"/>
          </a:xfrm>
          <a:custGeom>
            <a:avLst/>
            <a:gdLst/>
            <a:ahLst/>
            <a:cxnLst/>
            <a:rect l="l" t="t" r="r" b="b"/>
            <a:pathLst>
              <a:path w="1326275" h="1140596">
                <a:moveTo>
                  <a:pt x="0" y="0"/>
                </a:moveTo>
                <a:lnTo>
                  <a:pt x="1326275" y="0"/>
                </a:lnTo>
                <a:lnTo>
                  <a:pt x="1326275" y="1140597"/>
                </a:lnTo>
                <a:lnTo>
                  <a:pt x="0" y="11405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047733" y="7297278"/>
            <a:ext cx="5150072" cy="86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메신저 앱 Borcelle을 이용합니다.</a:t>
            </a:r>
          </a:p>
          <a:p>
            <a:pPr marL="0" lvl="0" indent="0" algn="ctr">
              <a:lnSpc>
                <a:spcPts val="3563"/>
              </a:lnSpc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닉네임은 [실명/팀]으로 설정해 주세요.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12367" y="6425074"/>
            <a:ext cx="4020804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소통을 위한 메신저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219281" y="3362817"/>
            <a:ext cx="2658452" cy="2397865"/>
            <a:chOff x="0" y="0"/>
            <a:chExt cx="840983" cy="7585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0983" cy="758548"/>
            </a:xfrm>
            <a:custGeom>
              <a:avLst/>
              <a:gdLst/>
              <a:ahLst/>
              <a:cxnLst/>
              <a:rect l="l" t="t" r="r" b="b"/>
              <a:pathLst>
                <a:path w="840983" h="758548">
                  <a:moveTo>
                    <a:pt x="0" y="0"/>
                  </a:moveTo>
                  <a:lnTo>
                    <a:pt x="840983" y="0"/>
                  </a:lnTo>
                  <a:lnTo>
                    <a:pt x="840983" y="758548"/>
                  </a:lnTo>
                  <a:lnTo>
                    <a:pt x="0" y="758548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40983" cy="806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891270" y="3904513"/>
            <a:ext cx="1314473" cy="1314473"/>
          </a:xfrm>
          <a:custGeom>
            <a:avLst/>
            <a:gdLst/>
            <a:ahLst/>
            <a:cxnLst/>
            <a:rect l="l" t="t" r="r" b="b"/>
            <a:pathLst>
              <a:path w="1314473" h="1314473">
                <a:moveTo>
                  <a:pt x="0" y="0"/>
                </a:moveTo>
                <a:lnTo>
                  <a:pt x="1314473" y="0"/>
                </a:lnTo>
                <a:lnTo>
                  <a:pt x="1314473" y="1314473"/>
                </a:lnTo>
                <a:lnTo>
                  <a:pt x="0" y="1314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923470" y="7311616"/>
            <a:ext cx="5250073" cy="86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성과 관리 서비스 Liceria를 이용합니다.</a:t>
            </a:r>
          </a:p>
          <a:p>
            <a:pPr marL="0" lvl="0" indent="0" algn="ctr">
              <a:lnSpc>
                <a:spcPts val="3563"/>
              </a:lnSpc>
            </a:pPr>
            <a:r>
              <a:rPr lang="en-US" sz="21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1:1 미팅, 분기별 회고 및 평가 때 사용해요.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38105" y="6425074"/>
            <a:ext cx="4020804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성과 관리</a:t>
            </a:r>
          </a:p>
        </p:txBody>
      </p:sp>
      <p:sp>
        <p:nvSpPr>
          <p:cNvPr id="24" name="AutoShape 24"/>
          <p:cNvSpPr/>
          <p:nvPr/>
        </p:nvSpPr>
        <p:spPr>
          <a:xfrm>
            <a:off x="11665546" y="2919173"/>
            <a:ext cx="0" cy="5683018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5753437" y="2919173"/>
            <a:ext cx="0" cy="5683018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351299" y="4169287"/>
            <a:ext cx="7306556" cy="3768551"/>
            <a:chOff x="0" y="0"/>
            <a:chExt cx="1924361" cy="9925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24360" cy="992540"/>
            </a:xfrm>
            <a:custGeom>
              <a:avLst/>
              <a:gdLst/>
              <a:ahLst/>
              <a:cxnLst/>
              <a:rect l="l" t="t" r="r" b="b"/>
              <a:pathLst>
                <a:path w="1924360" h="992540">
                  <a:moveTo>
                    <a:pt x="0" y="0"/>
                  </a:moveTo>
                  <a:lnTo>
                    <a:pt x="1924360" y="0"/>
                  </a:lnTo>
                  <a:lnTo>
                    <a:pt x="1924360" y="992540"/>
                  </a:lnTo>
                  <a:lnTo>
                    <a:pt x="0" y="992540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924361" cy="1040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93609" y="5374175"/>
            <a:ext cx="6221936" cy="1749784"/>
            <a:chOff x="0" y="0"/>
            <a:chExt cx="8295914" cy="2333045"/>
          </a:xfrm>
        </p:grpSpPr>
        <p:sp>
          <p:nvSpPr>
            <p:cNvPr id="8" name="TextBox 8"/>
            <p:cNvSpPr txBox="1"/>
            <p:nvPr/>
          </p:nvSpPr>
          <p:spPr>
            <a:xfrm>
              <a:off x="0" y="-104775"/>
              <a:ext cx="8295914" cy="1367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92"/>
                </a:lnSpc>
              </a:pPr>
              <a:r>
                <a:rPr lang="en-US" sz="268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사내 클라우드에 기본 문서 양식이 있습니다.</a:t>
              </a:r>
            </a:p>
            <a:p>
              <a:pPr marL="0" lvl="0" indent="0" algn="l">
                <a:lnSpc>
                  <a:spcPts val="4292"/>
                </a:lnSpc>
              </a:pPr>
              <a:r>
                <a:rPr lang="en-US" sz="268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해당 양식을 복사해서 사용해 주세요.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7173" y="1687726"/>
              <a:ext cx="3829927" cy="645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292"/>
                </a:lnSpc>
              </a:pPr>
              <a:r>
                <a:rPr lang="en-US" sz="2682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링크 바로 가기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776251"/>
              <a:ext cx="574755" cy="556794"/>
            </a:xfrm>
            <a:custGeom>
              <a:avLst/>
              <a:gdLst/>
              <a:ahLst/>
              <a:cxnLst/>
              <a:rect l="l" t="t" r="r" b="b"/>
              <a:pathLst>
                <a:path w="574755" h="556794">
                  <a:moveTo>
                    <a:pt x="0" y="0"/>
                  </a:moveTo>
                  <a:lnTo>
                    <a:pt x="574755" y="0"/>
                  </a:lnTo>
                  <a:lnTo>
                    <a:pt x="574755" y="556794"/>
                  </a:lnTo>
                  <a:lnTo>
                    <a:pt x="0" y="556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AutoShape 11"/>
          <p:cNvSpPr/>
          <p:nvPr/>
        </p:nvSpPr>
        <p:spPr>
          <a:xfrm>
            <a:off x="9585408" y="5738057"/>
            <a:ext cx="7351293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4435321" y="3572084"/>
            <a:ext cx="1138511" cy="1138511"/>
            <a:chOff x="0" y="0"/>
            <a:chExt cx="1518015" cy="1518015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518015" cy="1518015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0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349314" y="505773"/>
              <a:ext cx="819387" cy="618264"/>
            </a:xfrm>
            <a:custGeom>
              <a:avLst/>
              <a:gdLst/>
              <a:ahLst/>
              <a:cxnLst/>
              <a:rect l="l" t="t" r="r" b="b"/>
              <a:pathLst>
                <a:path w="819387" h="618264">
                  <a:moveTo>
                    <a:pt x="0" y="0"/>
                  </a:moveTo>
                  <a:lnTo>
                    <a:pt x="819387" y="0"/>
                  </a:lnTo>
                  <a:lnTo>
                    <a:pt x="819387" y="618264"/>
                  </a:lnTo>
                  <a:lnTo>
                    <a:pt x="0" y="618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8700" y="771525"/>
            <a:ext cx="388837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문서 작성법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7073" y="877887"/>
            <a:ext cx="57986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문서는 이렇게 작성합니다.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766383" y="3271507"/>
            <a:ext cx="6145278" cy="1739665"/>
            <a:chOff x="0" y="0"/>
            <a:chExt cx="8193704" cy="231955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1037912"/>
              <a:ext cx="8193704" cy="1281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000"/>
                </a:lnSpc>
              </a:pPr>
              <a:r>
                <a:rPr lang="en-US" sz="25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문서를 작성할 때 항상 명확한 목적을 정하고, 그 목적을 중심으로 내용을 구성하세요.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5719780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929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목적 명시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66383" y="6509956"/>
            <a:ext cx="6456197" cy="1739900"/>
            <a:chOff x="0" y="0"/>
            <a:chExt cx="8608263" cy="2319866"/>
          </a:xfrm>
        </p:grpSpPr>
        <p:sp>
          <p:nvSpPr>
            <p:cNvPr id="23" name="TextBox 23"/>
            <p:cNvSpPr txBox="1"/>
            <p:nvPr/>
          </p:nvSpPr>
          <p:spPr>
            <a:xfrm>
              <a:off x="0" y="1038225"/>
              <a:ext cx="8608263" cy="1281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000"/>
                </a:lnSpc>
              </a:pPr>
              <a:r>
                <a:rPr lang="en-US" sz="25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문서를 계층적이고 일관된 구조로 정리하여, </a:t>
              </a:r>
            </a:p>
            <a:p>
              <a:pPr marL="0" lvl="0" indent="0" algn="just">
                <a:lnSpc>
                  <a:spcPts val="4000"/>
                </a:lnSpc>
              </a:pPr>
              <a:r>
                <a:rPr lang="en-US" sz="2500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내용의 흐름을 쉽게 파악할 수 있도록 구성하세요.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5397106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9292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효과적인 구조화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771525"/>
            <a:ext cx="686807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비즈니스 예절 _ 호칭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87323" y="877887"/>
            <a:ext cx="683913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팀원끼리는 이름 뒤에 ‘님'을 붙여 부릅니다.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1952878" y="3799990"/>
            <a:ext cx="8993607" cy="1517671"/>
          </a:xfrm>
          <a:custGeom>
            <a:avLst/>
            <a:gdLst/>
            <a:ahLst/>
            <a:cxnLst/>
            <a:rect l="l" t="t" r="r" b="b"/>
            <a:pathLst>
              <a:path w="8993607" h="1517671">
                <a:moveTo>
                  <a:pt x="8993607" y="0"/>
                </a:moveTo>
                <a:lnTo>
                  <a:pt x="0" y="0"/>
                </a:lnTo>
                <a:lnTo>
                  <a:pt x="0" y="1517671"/>
                </a:lnTo>
                <a:lnTo>
                  <a:pt x="8993607" y="1517671"/>
                </a:lnTo>
                <a:lnTo>
                  <a:pt x="89936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010396" y="3713933"/>
            <a:ext cx="8993607" cy="1517671"/>
          </a:xfrm>
          <a:custGeom>
            <a:avLst/>
            <a:gdLst/>
            <a:ahLst/>
            <a:cxnLst/>
            <a:rect l="l" t="t" r="r" b="b"/>
            <a:pathLst>
              <a:path w="8993607" h="1517671">
                <a:moveTo>
                  <a:pt x="8993607" y="0"/>
                </a:moveTo>
                <a:lnTo>
                  <a:pt x="0" y="0"/>
                </a:lnTo>
                <a:lnTo>
                  <a:pt x="0" y="1517672"/>
                </a:lnTo>
                <a:lnTo>
                  <a:pt x="8993607" y="1517672"/>
                </a:lnTo>
                <a:lnTo>
                  <a:pt x="899360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303047" y="6404959"/>
            <a:ext cx="8993607" cy="1517671"/>
          </a:xfrm>
          <a:custGeom>
            <a:avLst/>
            <a:gdLst/>
            <a:ahLst/>
            <a:cxnLst/>
            <a:rect l="l" t="t" r="r" b="b"/>
            <a:pathLst>
              <a:path w="8993607" h="1517671">
                <a:moveTo>
                  <a:pt x="0" y="0"/>
                </a:moveTo>
                <a:lnTo>
                  <a:pt x="8993607" y="0"/>
                </a:lnTo>
                <a:lnTo>
                  <a:pt x="8993607" y="1517671"/>
                </a:lnTo>
                <a:lnTo>
                  <a:pt x="0" y="1517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283997" y="6289759"/>
            <a:ext cx="8993607" cy="1517671"/>
          </a:xfrm>
          <a:custGeom>
            <a:avLst/>
            <a:gdLst/>
            <a:ahLst/>
            <a:cxnLst/>
            <a:rect l="l" t="t" r="r" b="b"/>
            <a:pathLst>
              <a:path w="8993607" h="1517671">
                <a:moveTo>
                  <a:pt x="0" y="0"/>
                </a:moveTo>
                <a:lnTo>
                  <a:pt x="8993607" y="0"/>
                </a:lnTo>
                <a:lnTo>
                  <a:pt x="8993607" y="1517671"/>
                </a:lnTo>
                <a:lnTo>
                  <a:pt x="0" y="15176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68032" y="4300988"/>
            <a:ext cx="8278335" cy="400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302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“수진님, 오전에 보낸 메시지 확인 되었나요?”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61235" y="6876813"/>
            <a:ext cx="6839131" cy="400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026"/>
              </a:lnSpc>
              <a:spcBef>
                <a:spcPct val="0"/>
              </a:spcBef>
            </a:pPr>
            <a:r>
              <a:rPr lang="en-US" sz="3026" u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“네, 해원님. 관련해서 메일 보내 드릴게요!”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4376556" y="3072514"/>
            <a:ext cx="2636302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3248240" y="4470149"/>
            <a:ext cx="3764618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4547883" y="5739810"/>
            <a:ext cx="2464975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5417087" y="7098839"/>
            <a:ext cx="1595771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417087" y="8439324"/>
            <a:ext cx="1595771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28700" y="771525"/>
            <a:ext cx="686807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비즈니스 예절 _ 메일 작성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80557" y="877887"/>
            <a:ext cx="683913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메일은 아래 5가지 주의사항을 지켜서 작성합니다.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484" y="2483740"/>
            <a:ext cx="5407645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간결함과 명확성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0484" y="7841025"/>
            <a:ext cx="5407645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본문 첨부 파일 최소화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0484" y="6491015"/>
            <a:ext cx="5407645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답변 및 액션 항목 포함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0484" y="5141511"/>
            <a:ext cx="5407645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적절한 제목 사용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0484" y="3862325"/>
            <a:ext cx="5407645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의도 명시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6934" y="2626109"/>
            <a:ext cx="938058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ex) 안녕하세요 [이름]님, 저희 팀에서 새로운 프로젝트를 시작하게 되었습니다. </a:t>
            </a:r>
          </a:p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이에 따라 협업이 필요한 사항이 몇 가지 있어 공유드립니다.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6934" y="4004694"/>
            <a:ext cx="938058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ex) 이번 주 월요일까지 팀 회의 참석 여부를 확인해 주시고, 부재 중이라면 대리 </a:t>
            </a:r>
          </a:p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참석자 지정 부탁드립니다.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06934" y="5498193"/>
            <a:ext cx="9380582" cy="40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ex) 프로젝트 X: 참여 확인 및 중요 사항 안내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06934" y="6633384"/>
            <a:ext cx="938058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ex) 참석 여부와 함께 프로젝트 X에 관한 의견이나 추가 제안이 있으면 공유해 </a:t>
            </a:r>
          </a:p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주시기 바랍니다.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06934" y="7983394"/>
            <a:ext cx="938058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ex) 관련 문서는 아래 링크에서 다운로드 가능합니다. 어려운 점이 있거나 추가 </a:t>
            </a:r>
          </a:p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설명이 필요한 경우 언제든지 연락해 주세요.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4547883" y="3032340"/>
            <a:ext cx="2464975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3626615" y="4277069"/>
            <a:ext cx="3386243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4004307" y="5608029"/>
            <a:ext cx="3008552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547883" y="6977089"/>
            <a:ext cx="2464975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4547883" y="8326593"/>
            <a:ext cx="2464975" cy="0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28700" y="771525"/>
            <a:ext cx="686807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비즈니스 예절 _ 전화 응대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80557" y="877887"/>
            <a:ext cx="683913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00"/>
              </a:lnSpc>
            </a:pPr>
            <a:r>
              <a:rPr lang="en-US" sz="25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전화 응대는 아래 5가지 주의사항을 지켜서 합니다.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484" y="2443565"/>
            <a:ext cx="3634012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프로페셔널한 인사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0484" y="7728294"/>
            <a:ext cx="3941442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종료 전 최종 확인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0484" y="6369264"/>
            <a:ext cx="3634012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명확한 정보 제공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0484" y="5009730"/>
            <a:ext cx="4116603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적극적인 반응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0484" y="3669245"/>
            <a:ext cx="3634012" cy="82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3"/>
              </a:lnSpc>
            </a:pPr>
            <a:r>
              <a:rPr lang="en-US" sz="3021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정확한 발음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6934" y="2800247"/>
            <a:ext cx="9380582" cy="40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웃음과 함께 정중한 인사로 상대방을 환영하세요.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06934" y="3821139"/>
            <a:ext cx="938058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명확한 발음을 유지하여 상대방이 쉽게 이해할 수 있도록 하세요. </a:t>
            </a:r>
          </a:p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너무 빠르거나 너무 느리게 말하지 않도록 주의하세요.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06934" y="5152099"/>
            <a:ext cx="938058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상대방의 말을 주의 깊게 듣고 이해하는 것이 중요합니다. </a:t>
            </a:r>
          </a:p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짧은 감사의 말씀으로 상대방에게 이해하고 있다는 신호를 줄 수 있습니다.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06934" y="6511634"/>
            <a:ext cx="938058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요청사항이나 질문에 대해 명확하고 정확한 정보를 제공하세요. </a:t>
            </a:r>
          </a:p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필요한 경우, 관련 정보를 확인하고 다시 전화로 연락드리겠다고 안내하세요.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06934" y="7870663"/>
            <a:ext cx="9380582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상담이나 문제 해결 후에는 "다른 도움이 필요하신 사항이 있으신가요?"와 같은 </a:t>
            </a:r>
          </a:p>
          <a:p>
            <a:pPr algn="just">
              <a:lnSpc>
                <a:spcPts val="3410"/>
              </a:lnSpc>
            </a:pPr>
            <a:r>
              <a:rPr lang="en-US" sz="2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마무리 확인을 통해 모든 요청이 충족되었는지 확인하세요.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74791" y="5769836"/>
            <a:ext cx="733841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추가로 궁금한 점은 인사팀에 문의해 주세요!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86393" y="4164739"/>
            <a:ext cx="7915215" cy="117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45"/>
              </a:lnSpc>
            </a:pPr>
            <a:r>
              <a:rPr lang="en-US" sz="8845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24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603</Words>
  <Application>Microsoft Office PowerPoint</Application>
  <PresentationFormat>사용자 지정</PresentationFormat>
  <Paragraphs>110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Noto Sans Bold</vt:lpstr>
      <vt:lpstr>나눔스퀘어 ExtraBold</vt:lpstr>
      <vt:lpstr>Arial</vt:lpstr>
      <vt:lpstr>Noto Sans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신규 입사자 가이드북 프레젠테이션</dc:title>
  <dc:creator>Administrator</dc:creator>
  <cp:lastModifiedBy>고학능</cp:lastModifiedBy>
  <cp:revision>1</cp:revision>
  <dcterms:created xsi:type="dcterms:W3CDTF">2006-08-16T00:00:00Z</dcterms:created>
  <dcterms:modified xsi:type="dcterms:W3CDTF">2026-07-23T06:00:44Z</dcterms:modified>
  <dc:identifier>DAHP2IAZZLA</dc:identifier>
</cp:coreProperties>
</file>